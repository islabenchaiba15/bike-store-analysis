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A8C4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C4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C4E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43419</c:v>
                </c:pt>
                <c:pt idx="1">
                  <c:v>7085238</c:v>
                </c:pt>
                <c:pt idx="2">
                  <c:v>5844280</c:v>
                </c:pt>
                <c:pt idx="3">
                  <c:v>16348197</c:v>
                </c:pt>
                <c:pt idx="4">
                  <c:v>45642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28332070</c:v>
                </c:pt>
                <c:pt idx="1">
                  <c:v>700230</c:v>
                </c:pt>
                <c:pt idx="2">
                  <c:v>339468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United States</c:v>
                  </c:pt>
                  <c:pt idx="1">
                    <c:v>Australia</c:v>
                  </c:pt>
                  <c:pt idx="2">
                    <c:v>United Kingdom</c:v>
                  </c:pt>
                  <c:pt idx="3">
                    <c:v>Germany</c:v>
                  </c:pt>
                  <c:pt idx="4">
                    <c:v>France</c:v>
                  </c:pt>
                  <c:pt idx="5">
                    <c:v>Canada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9162054</c:v>
                </c:pt>
                <c:pt idx="1">
                  <c:v>9060168</c:v>
                </c:pt>
                <c:pt idx="2">
                  <c:v>3395036</c:v>
                </c:pt>
                <c:pt idx="3">
                  <c:v>2904166</c:v>
                </c:pt>
                <c:pt idx="4">
                  <c:v>2645846</c:v>
                </c:pt>
                <c:pt idx="5">
                  <c:v>1977678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Road (R)</c:v>
                  </c:pt>
                  <c:pt idx="1">
                    <c:v>Mountain (M)</c:v>
                  </c:pt>
                  <c:pt idx="2">
                    <c:v>Touring (T)</c:v>
                  </c:pt>
                  <c:pt idx="3">
                    <c:v>Standard (S)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14622845</c:v>
                </c:pt>
                <c:pt idx="1">
                  <c:v>10263081</c:v>
                </c:pt>
                <c:pt idx="2">
                  <c:v>3882734</c:v>
                </c:pt>
                <c:pt idx="3">
                  <c:v>603108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857758</c:v>
                </c:pt>
                <c:pt idx="1">
                  <c:v>771218</c:v>
                </c:pt>
                <c:pt idx="2">
                  <c:v>1049732</c:v>
                </c:pt>
                <c:pt idx="3">
                  <c:v>1047149</c:v>
                </c:pt>
                <c:pt idx="4">
                  <c:v>1284421</c:v>
                </c:pt>
                <c:pt idx="5">
                  <c:v>1645367</c:v>
                </c:pt>
                <c:pt idx="6">
                  <c:v>1371494</c:v>
                </c:pt>
                <c:pt idx="7">
                  <c:v>1545910</c:v>
                </c:pt>
                <c:pt idx="8">
                  <c:v>1447324</c:v>
                </c:pt>
                <c:pt idx="9">
                  <c:v>1673008</c:v>
                </c:pt>
                <c:pt idx="10">
                  <c:v>1780688</c:v>
                </c:pt>
                <c:pt idx="11">
                  <c:v>1874128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25–34</c:v>
                  </c:pt>
                  <c:pt idx="1">
                    <c:v>35–44</c:v>
                  </c:pt>
                  <c:pt idx="2">
                    <c:v>45–54</c:v>
                  </c:pt>
                  <c:pt idx="3">
                    <c:v>55–64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7613914</c:v>
                </c:pt>
                <c:pt idx="1">
                  <c:v>10759250</c:v>
                </c:pt>
                <c:pt idx="2">
                  <c:v>6899167</c:v>
                </c:pt>
                <c:pt idx="3">
                  <c:v>3074789</c:v>
                </c:pt>
                <c:pt idx="4">
                  <c:v>970693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Accessories</c:v>
                  </c:pt>
                  <c:pt idx="1">
                    <c:v>Bikes</c:v>
                  </c:pt>
                  <c:pt idx="2">
                    <c:v>Clothing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61.9</c:v>
                </c:pt>
                <c:pt idx="1">
                  <c:v>38.8</c:v>
                </c:pt>
                <c:pt idx="2">
                  <c:v>38.5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440"/>
          </a:solidFill>
          <a:ln/>
        </p:spPr>
      </p:sp>
      <p:sp>
        <p:nvSpPr>
          <p:cNvPr id="3" name="Shape 1"/>
          <p:cNvSpPr/>
          <p:nvPr/>
        </p:nvSpPr>
        <p:spPr>
          <a:xfrm>
            <a:off x="6784848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45720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5" name="Shape 3"/>
          <p:cNvSpPr/>
          <p:nvPr/>
        </p:nvSpPr>
        <p:spPr>
          <a:xfrm>
            <a:off x="7452360" y="45720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45720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7" name="Shape 5"/>
          <p:cNvSpPr/>
          <p:nvPr/>
        </p:nvSpPr>
        <p:spPr>
          <a:xfrm>
            <a:off x="8275320" y="45720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28016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9" name="Shape 7"/>
          <p:cNvSpPr/>
          <p:nvPr/>
        </p:nvSpPr>
        <p:spPr>
          <a:xfrm>
            <a:off x="7452360" y="128016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128016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1" name="Shape 9"/>
          <p:cNvSpPr/>
          <p:nvPr/>
        </p:nvSpPr>
        <p:spPr>
          <a:xfrm>
            <a:off x="8275320" y="128016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10312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360" y="210312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210312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292608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2360" y="292608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92608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75320" y="292608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374904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374904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374904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3749040"/>
            <a:ext cx="54864" cy="54864"/>
          </a:xfrm>
          <a:prstGeom prst="ellipse">
            <a:avLst/>
          </a:prstGeom>
          <a:solidFill>
            <a:srgbClr val="2A4A7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914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128016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502920" y="2944368"/>
            <a:ext cx="1645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0906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Six-Source Dataset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60,407 Transactions</a:t>
            </a:r>
            <a:pPr indent="0" marL="0">
              <a:buNone/>
            </a:pPr>
            <a:r>
              <a:rPr lang="en-US" sz="11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2011–2013 Core Period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</a:t>
            </a:r>
            <a:pPr indent="0" marL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</a:t>
            </a:r>
            <a:pPr indent="0" marL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 ·  </a:t>
            </a:r>
            <a:pPr indent="0" marL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Analytics Team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42416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1005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Standardisation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243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issues identified and resolved across 6 source 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0136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764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KPIs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00253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$29.4M revenue · 18,484 customers · 52.5% avg margin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56032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25237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76148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category mix, geography, customer segments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1927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3282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Proposal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52044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structure with KPIs, filters &amp; chart rationale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" y="4041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279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drivers, risks, and strategic action plan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 REPORT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Data Cleaning &amp; Standardisation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54864" cy="6949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987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Negative Sales &amp; Price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5216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abs() — sign errors confirmed, not refunds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896112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96112"/>
            <a:ext cx="54864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837176" y="987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Sales ≠ Qty × Price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37176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20 mismatched rows using unit price as source of truth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00784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00784"/>
            <a:ext cx="54864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1792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Integer Date Encoding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5216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YYYYMMDD integers to datetime; invalid values → NaT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700784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700784"/>
            <a:ext cx="54864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792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102 Duplicate Products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37176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latest version per key — products versioned by start date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05456"/>
            <a:ext cx="54864" cy="6949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2596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Product End &lt; Start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5216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200 invalid dates; used is_current = (end_dt IS NULL)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505456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505456"/>
            <a:ext cx="54864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37176" y="2596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Mismatched Key Formats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37176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'NAS' prefix &amp; hyphens — all 3 tables joined cleanly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10128"/>
            <a:ext cx="54864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Gender 24.7% Missing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Priority-merge from 2nd source (CUST_AZ12) → final unknown &lt; 2%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310128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310128"/>
            <a:ext cx="54864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Country Name Variants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37176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USA/US → 'United States', DE → 'Germany'; nulls flagged 'Unknown'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114800"/>
            <a:ext cx="54864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Product Key Prefix Gap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216" y="4425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2-segment prefix from prd_key → 100% sales match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411480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114800"/>
            <a:ext cx="54864" cy="6949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4837176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Whitespace in Strings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37176" y="4425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.str.strip() to names, product line, all text columns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Top-Line KPIs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719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024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$29.4M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" y="16459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2010–2014 combined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54864" cy="17190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19856" y="1024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19856" y="11887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27,659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16459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numbers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54864" cy="1719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02412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54496" y="118872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16459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number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17190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5216" y="31089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5216" y="35661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across all categories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83464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34640"/>
            <a:ext cx="54864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419856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19856" y="31089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18,484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19856" y="35661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countries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63347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54864" cy="17190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94436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54496" y="31089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54496" y="35661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at least once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Revenue Trend &amp; Category Mix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43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recovery and growth in 2013 (+180% vs 2011)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6304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86868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577840" y="1325880"/>
          <a:ext cx="3200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760720" y="38862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 Bikes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REVENUE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Geographic &amp; Product Line Breakdown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= 62% of total revenue — high geographic concentration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81328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86868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Line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577840" y="132588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GEOGRAPHY &amp; PRODUCT LINES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Monthly Revenue — 2013 Peak Year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334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978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5216" y="11430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$16.3M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+180% vs 2011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334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6868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419856" y="978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19856" y="11430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16002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$1.87M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334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978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ACCELERATION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54496" y="114300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16002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Dec growth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1965960"/>
            <a:ext cx="8412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057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year-end momentum — revenue nearly doubles from Jan to Dec, suggesting seasonal demand or promotional cycles</a:t>
            </a:r>
            <a:endParaRPr lang="en-US" sz="8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240280"/>
          <a:ext cx="83210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MONTHLY TREND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Customer Demographics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year olds are the highest-value segment at 36.7% of revenue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6304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86868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Marital Split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389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0" y="1389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1645920"/>
            <a:ext cx="27432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1645920"/>
            <a:ext cx="1385316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2075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955280" y="20756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331720"/>
            <a:ext cx="27432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760720" y="2331720"/>
            <a:ext cx="1357884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955280" y="27614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3017520"/>
            <a:ext cx="27432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5760720" y="3017520"/>
            <a:ext cx="1418234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3447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955280" y="3447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48.3%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60720" y="3703320"/>
            <a:ext cx="274320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2"/>
          <p:cNvSpPr/>
          <p:nvPr/>
        </p:nvSpPr>
        <p:spPr>
          <a:xfrm>
            <a:off x="5760720" y="3703320"/>
            <a:ext cx="1324966" cy="14630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CUSTOMER DEMOGRAPHICS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Top 10 Products by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Mountain-200 and Road-150 series dominate — all top 10 are bikes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"/>
                <a:gridCol w="3794760"/>
                <a:gridCol w="1371600"/>
                <a:gridCol w="9144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Black, 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$1,373,454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Black, 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$1,365,177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Silver, 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$1,339,394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Silver, 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$1,301,029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Black, 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$1,294,854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Mountain-200 Silver, 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$1,257,368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Road-150 Red, 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$1,205,786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Road-150 Red, 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$1,202,208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Road-150 Red, 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$1,080,556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Road-150 Red, 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$1,055,510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PRODUCT PERFORMANCE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Gross Margin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 % by Category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3716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Margin Paradox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417320"/>
            <a:ext cx="3566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+23.1pp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6480" y="1581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advantage over Bikes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0" y="2185416"/>
            <a:ext cx="3566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22768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26480" y="2350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Bikes — yet lowest margin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37760" y="2953512"/>
            <a:ext cx="3566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044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31181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revenue share — massive headroom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937760" y="3721608"/>
            <a:ext cx="3566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3813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61.9%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26480" y="3886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— highest profit efficiency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MARGIN ANALYSIS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Dashboard Design Proposal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" y="923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Sales Performance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4356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807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Cards: Revenue, Orders, AOV, Margin, YoY Δ, Active Customers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20574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025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Line Chart (trend &amp; seasonality)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" y="267919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243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Donut (Bikes/Accessories/Clothing)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" y="330098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4612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 Horizontal Bar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" y="392277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679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Table (sortable)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6517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923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Customer Intelligence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28416" y="143560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13807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Total Customers, Revenue/Customer, % Married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28416" y="20574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20025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Revenue Bar Chart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28416" y="26791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26243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Donut Chart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28416" y="33009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324612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Bubble Map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28416" y="392277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3493008" y="38679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Cohort Over 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868680"/>
            <a:ext cx="265176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163056" y="923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Product Analysis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14356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1380744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Margin Scatter (quadrant view)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205740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200253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Treemap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63056" y="26791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26243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Grouped Bar (Revenue + Margin)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63056" y="3300984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327648" y="3246120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Discontinued Revenue Area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63056" y="3922776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38679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Lifecycle Gantt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8412480" cy="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718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 (persist across all pages):  Date Range  ·  Country  ·  Category  ·  Product Line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Business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38587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9669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DRIVER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Are the Engine — But a Dangerous 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025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 of revenue ($28.3M) from Bikes — extreme product concentration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6609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Mountain-200 &amp; Road-150 series hold all top 10 product positions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319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year-end surge: +119% Jan → Dec, pointing to seasonal demand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977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margin of 38.8% is 23pp below Accessories — scale masks efficiency gap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868680"/>
            <a:ext cx="64008" cy="38587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996696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1005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INEFFICIENCIES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3280" y="14173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Vulnerabilities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148840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529584" y="20025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cliff: 2012 dropped 18% vs 2011 — root cause still unresolved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2807208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26609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revenue ($8.6M) from discontinued products — no restock path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3465576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3529584" y="3319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Australia = 62% of revenue — no geographic hedge against shocks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83280" y="4123944"/>
            <a:ext cx="7315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3529584" y="3977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generate highest margin but represent only 2.4% of sales mix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868680"/>
            <a:ext cx="26517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868680"/>
            <a:ext cx="64008" cy="38587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99669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1005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17920" y="14173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Drive Sustainable Growth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148840"/>
            <a:ext cx="731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64224" y="20025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accessories attach-rate bundles — +23pp margin delta over Bikes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17920" y="2807208"/>
            <a:ext cx="731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364224" y="26609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35–44 retention (36.7% of revenue, 6,086 active customers)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3465576"/>
            <a:ext cx="731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3319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France &amp; Germany — customer base exists, revenue per head is low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4123944"/>
            <a:ext cx="731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6364224" y="3977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2012 demand cliff before scaling further investment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73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8737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440"/>
          </a:solidFill>
          <a:ln/>
        </p:spPr>
      </p:sp>
      <p:sp>
        <p:nvSpPr>
          <p:cNvPr id="3" name="Shape 1"/>
          <p:cNvSpPr/>
          <p:nvPr/>
        </p:nvSpPr>
        <p:spPr>
          <a:xfrm>
            <a:off x="5870448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Glance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120640" cy="585216"/>
          </a:xfrm>
          <a:prstGeom prst="rect">
            <a:avLst/>
          </a:prstGeom>
          <a:solidFill>
            <a:srgbClr val="16244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$29.4M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with 52.5% blended gross margin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706624"/>
            <a:ext cx="5120640" cy="585216"/>
          </a:xfrm>
          <a:prstGeom prst="rect">
            <a:avLst/>
          </a:prstGeom>
          <a:solidFill>
            <a:srgbClr val="16244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980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871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concentrated in just US &amp; Australia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5120640" cy="585216"/>
          </a:xfrm>
          <a:prstGeom prst="rect">
            <a:avLst/>
          </a:prstGeom>
          <a:solidFill>
            <a:srgbClr val="16244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930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margin edge — biggest growth lever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120640" cy="585216"/>
          </a:xfrm>
          <a:prstGeom prst="rect">
            <a:avLst/>
          </a:prstGeom>
          <a:solidFill>
            <a:srgbClr val="16244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879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35–44 age group — top retention target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2A4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2A4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4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Team for deep-dives.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Intelligence Report</dc:title>
  <dc:subject>PptxGenJS Presentation</dc:subject>
  <dc:creator>Data Analytics Team</dc:creator>
  <cp:lastModifiedBy>Data Analytics Team</cp:lastModifiedBy>
  <cp:revision>1</cp:revision>
  <dcterms:created xsi:type="dcterms:W3CDTF">2026-02-28T11:54:52Z</dcterms:created>
  <dcterms:modified xsi:type="dcterms:W3CDTF">2026-02-28T11:54:52Z</dcterms:modified>
</cp:coreProperties>
</file>